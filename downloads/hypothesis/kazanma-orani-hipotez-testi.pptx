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70728a4e243f4" /><Relationship Type="http://schemas.openxmlformats.org/officeDocument/2006/relationships/extended-properties" Target="/docProps/app.xml" Id="Rb163290dd4f54e58" /><Relationship Type="http://schemas.openxmlformats.org/officeDocument/2006/relationships/officeDocument" Target="/ppt/presentation.xml" Id="Re59592d3164b42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e8e535c0c14a35"/>
  </p:sldMasterIdLst>
  <p:notesMasterIdLst>
    <p:notesMasterId xmlns:r="http://schemas.openxmlformats.org/officeDocument/2006/relationships" r:id="R511dcd95453d47c8"/>
  </p:notesMasterIdLst>
  <p:sldIdLst>
    <p:sldId xmlns:r="http://schemas.openxmlformats.org/officeDocument/2006/relationships" id="256" r:id="R0e5e36ccca7d4df9"/>
    <p:sldId xmlns:r="http://schemas.openxmlformats.org/officeDocument/2006/relationships" id="257" r:id="Red44e6072b104ebb"/>
    <p:sldId xmlns:r="http://schemas.openxmlformats.org/officeDocument/2006/relationships" id="258" r:id="R76b13708ebc241d3"/>
    <p:sldId xmlns:r="http://schemas.openxmlformats.org/officeDocument/2006/relationships" id="259" r:id="Rabdeaec99a794365"/>
    <p:sldId xmlns:r="http://schemas.openxmlformats.org/officeDocument/2006/relationships" id="260" r:id="Rf7286ac64dfb4ad3"/>
    <p:sldId xmlns:r="http://schemas.openxmlformats.org/officeDocument/2006/relationships" id="261" r:id="Rda657454f7264888"/>
    <p:sldId xmlns:r="http://schemas.openxmlformats.org/officeDocument/2006/relationships" id="262" r:id="R495a0ec43c714470"/>
    <p:sldId xmlns:r="http://schemas.openxmlformats.org/officeDocument/2006/relationships" id="263" r:id="R9075fd290301432a"/>
    <p:sldId xmlns:r="http://schemas.openxmlformats.org/officeDocument/2006/relationships" id="264" r:id="R3e09a4fdd2314e12"/>
    <p:sldId xmlns:r="http://schemas.openxmlformats.org/officeDocument/2006/relationships" id="265" r:id="R8b41e348c38f4413"/>
    <p:sldId xmlns:r="http://schemas.openxmlformats.org/officeDocument/2006/relationships" id="266" r:id="R4b43deb04d2a487e"/>
    <p:sldId xmlns:r="http://schemas.openxmlformats.org/officeDocument/2006/relationships" id="267" r:id="R44e639b91b4c4e53"/>
    <p:sldId xmlns:r="http://schemas.openxmlformats.org/officeDocument/2006/relationships" id="268" r:id="R5b6aec55c204414d"/>
    <p:sldId xmlns:r="http://schemas.openxmlformats.org/officeDocument/2006/relationships" id="269" r:id="R9a4b2c545c0f47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cfe64aed14e3f" /><Relationship Type="http://schemas.openxmlformats.org/officeDocument/2006/relationships/slideMaster" Target="/ppt/slideMasters/slideMaster1.xml" Id="Rbce8e535c0c14a35" /><Relationship Type="http://schemas.openxmlformats.org/officeDocument/2006/relationships/notesMaster" Target="/ppt/notesMasters/notesMaster1.xml" Id="R511dcd95453d47c8" /><Relationship Type="http://schemas.openxmlformats.org/officeDocument/2006/relationships/presProps" Target="/ppt/presProps.xml" Id="R277f8209229d4fb3" /><Relationship Type="http://schemas.openxmlformats.org/officeDocument/2006/relationships/tableStyles" Target="/ppt/tableStyles.xml" Id="R1c4b79171f6c4bfb" /><Relationship Type="http://schemas.openxmlformats.org/officeDocument/2006/relationships/slide" Target="/ppt/slides/slide1.xml" Id="R0e5e36ccca7d4df9" /><Relationship Type="http://schemas.openxmlformats.org/officeDocument/2006/relationships/slide" Target="/ppt/slides/slide2.xml" Id="Red44e6072b104ebb" /><Relationship Type="http://schemas.openxmlformats.org/officeDocument/2006/relationships/slide" Target="/ppt/slides/slide3.xml" Id="R76b13708ebc241d3" /><Relationship Type="http://schemas.openxmlformats.org/officeDocument/2006/relationships/slide" Target="/ppt/slides/slide4.xml" Id="Rabdeaec99a794365" /><Relationship Type="http://schemas.openxmlformats.org/officeDocument/2006/relationships/slide" Target="/ppt/slides/slide5.xml" Id="Rf7286ac64dfb4ad3" /><Relationship Type="http://schemas.openxmlformats.org/officeDocument/2006/relationships/slide" Target="/ppt/slides/slide6.xml" Id="Rda657454f7264888" /><Relationship Type="http://schemas.openxmlformats.org/officeDocument/2006/relationships/slide" Target="/ppt/slides/slide7.xml" Id="R495a0ec43c714470" /><Relationship Type="http://schemas.openxmlformats.org/officeDocument/2006/relationships/slide" Target="/ppt/slides/slide8.xml" Id="R9075fd290301432a" /><Relationship Type="http://schemas.openxmlformats.org/officeDocument/2006/relationships/slide" Target="/ppt/slides/slide9.xml" Id="R3e09a4fdd2314e12" /><Relationship Type="http://schemas.openxmlformats.org/officeDocument/2006/relationships/slide" Target="/ppt/slides/slide10.xml" Id="R8b41e348c38f4413" /><Relationship Type="http://schemas.openxmlformats.org/officeDocument/2006/relationships/slide" Target="/ppt/slides/slide11.xml" Id="R4b43deb04d2a487e" /><Relationship Type="http://schemas.openxmlformats.org/officeDocument/2006/relationships/slide" Target="/ppt/slides/slide12.xml" Id="R44e639b91b4c4e53" /><Relationship Type="http://schemas.openxmlformats.org/officeDocument/2006/relationships/slide" Target="/ppt/slides/slide13.xml" Id="R5b6aec55c204414d" /><Relationship Type="http://schemas.openxmlformats.org/officeDocument/2006/relationships/slide" Target="/ppt/slides/slide14.xml" Id="R9a4b2c545c0f47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a4a5ccd1e1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3a4f18abc4bfc" /><Relationship Type="http://schemas.openxmlformats.org/officeDocument/2006/relationships/notesMaster" Target="/ppt/notesMasters/notesMaster1.xml" Id="R9bc7ba81919b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7e696f22934241" /><Relationship Type="http://schemas.openxmlformats.org/officeDocument/2006/relationships/notesMaster" Target="/ppt/notesMasters/notesMaster1.xml" Id="Red13d85dd2144e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9de7ab88ff4cf9" /><Relationship Type="http://schemas.openxmlformats.org/officeDocument/2006/relationships/notesMaster" Target="/ppt/notesMasters/notesMaster1.xml" Id="R7bec033678df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088d34b5f04582" /><Relationship Type="http://schemas.openxmlformats.org/officeDocument/2006/relationships/notesMaster" Target="/ppt/notesMasters/notesMaster1.xml" Id="R1e6e9475c7ac4a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2fd9bdc82c4539" /><Relationship Type="http://schemas.openxmlformats.org/officeDocument/2006/relationships/notesMaster" Target="/ppt/notesMasters/notesMaster1.xml" Id="Rd6d8b59851154e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e38fb98c84c2f" /><Relationship Type="http://schemas.openxmlformats.org/officeDocument/2006/relationships/notesMaster" Target="/ppt/notesMasters/notesMaster1.xml" Id="R0354e5e73f1b4d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c127f66a5464f" /><Relationship Type="http://schemas.openxmlformats.org/officeDocument/2006/relationships/notesMaster" Target="/ppt/notesMasters/notesMaster1.xml" Id="R2edc7314599049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7899f9215045dd" /><Relationship Type="http://schemas.openxmlformats.org/officeDocument/2006/relationships/notesMaster" Target="/ppt/notesMasters/notesMaster1.xml" Id="Re349d755280f49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8f98d2890f4f99" /><Relationship Type="http://schemas.openxmlformats.org/officeDocument/2006/relationships/notesMaster" Target="/ppt/notesMasters/notesMaster1.xml" Id="R606ea91ba61641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c67557e3434948" /><Relationship Type="http://schemas.openxmlformats.org/officeDocument/2006/relationships/notesMaster" Target="/ppt/notesMasters/notesMaster1.xml" Id="Rdb8e40c9a00f40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70e92b888b40a5" /><Relationship Type="http://schemas.openxmlformats.org/officeDocument/2006/relationships/notesMaster" Target="/ppt/notesMasters/notesMaster1.xml" Id="R2d7b9a82d14242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9468b687a3438b" /><Relationship Type="http://schemas.openxmlformats.org/officeDocument/2006/relationships/notesMaster" Target="/ppt/notesMasters/notesMaster1.xml" Id="R0fe362be08464e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4b8813828d470f" /><Relationship Type="http://schemas.openxmlformats.org/officeDocument/2006/relationships/notesMaster" Target="/ppt/notesMasters/notesMaster1.xml" Id="R5d3e9069269e43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0bfae703364a3d" /><Relationship Type="http://schemas.openxmlformats.org/officeDocument/2006/relationships/notesMaster" Target="/ppt/notesMasters/notesMaster1.xml" Id="Rb338a518d851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Cover visual is an original AI-generated asset; no external copyrighted artwork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The 56.7% observed rate and +6.7 percentage-point difference are derived from 17/30.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Normal-approximation adequacy is checked using np0 and n(1-p0), both equal to 15.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The 30-outcome matrix is transcribed from the source PDF match table.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Cumulative win rate is calculated sequentially from the 30 source outcomes.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Displayed z is rounded from 0.7303; null standard error is 0.091287.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Critical values are ±1.96 for a two-sided alpha=0.05 z-test; the observed z=0.73 lies between them.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Two-sided normal p-value is 0.465; exact binomial p-value is approximately 0.585.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Wald interval uses phat-based standard error and equals [0.389, 0.744].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The 233-match / 49.78% historical figure is stated in the source PDF, but no raw data was supplied for verification.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Margin-of-error curve uses 1.96*sqrt(0.25/n), the maximum standard error for a proportion near 0.50.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Closing synthesis of the z-test decision and interpretation.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Detailed match records 1–15 transcribed from the source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Oyun Hipotez Testi(1).pdf — user-provided source document.</a:t>
            </a:r>
          </a:p>
          <a:p xmlns:a="http://schemas.openxmlformats.org/drawingml/2006/main">
            <a:r>
              <a:t>- Calculations are derived from n=30, k=17, p0=0.50 unless otherwise stated.</a:t>
            </a:r>
          </a:p>
          <a:p xmlns:a="http://schemas.openxmlformats.org/drawingml/2006/main">
            <a:r>
              <a:t>- Detailed match records 16–30 transcribed from the source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34993ec6e40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eb079e4884895" /><Relationship Type="http://schemas.openxmlformats.org/officeDocument/2006/relationships/slideLayout" Target="/ppt/slideLayouts/slideLayout1.xml" Id="Rae8396fbc095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8396fbc09549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54c099fc04053" /><Relationship Type="http://schemas.openxmlformats.org/officeDocument/2006/relationships/image" Target="/ppt/media/image.png" Id="R34261bb8ed8e413e" /><Relationship Type="http://schemas.openxmlformats.org/officeDocument/2006/relationships/notesSlide" Target="/ppt/notesSlides/notesSlide1.xml" Id="R9d0866dd263b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545eb0204813" /><Relationship Type="http://schemas.openxmlformats.org/officeDocument/2006/relationships/notesSlide" Target="/ppt/notesSlides/notesSlide2.xml" Id="Racd2bcfa947b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4ea615ec24283" /><Relationship Type="http://schemas.openxmlformats.org/officeDocument/2006/relationships/notesSlide" Target="/ppt/notesSlides/notesSlide3.xml" Id="R43510736dc6d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970e8534f49bb" /><Relationship Type="http://schemas.openxmlformats.org/officeDocument/2006/relationships/chart" Target="/ppt/slides/charts/chart1.xml" Id="Rf81a2fa7500947d1" /><Relationship Type="http://schemas.openxmlformats.org/officeDocument/2006/relationships/notesSlide" Target="/ppt/notesSlides/notesSlide4.xml" Id="R7df31eeb74b0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68f9f254c48fa" /><Relationship Type="http://schemas.openxmlformats.org/officeDocument/2006/relationships/chart" Target="/ppt/slides/charts/chart2.xml" Id="R6bd729ef7aae47f3" /><Relationship Type="http://schemas.openxmlformats.org/officeDocument/2006/relationships/notesSlide" Target="/ppt/notesSlides/notesSlide5.xml" Id="Ra92c8313ff72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7f03230604740" /><Relationship Type="http://schemas.openxmlformats.org/officeDocument/2006/relationships/notesSlide" Target="/ppt/notesSlides/notesSlide6.xml" Id="Rc4d23ac256ed4e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7d23c12324feb" /><Relationship Type="http://schemas.openxmlformats.org/officeDocument/2006/relationships/chart" Target="/ppt/slides/charts/chart3.xml" Id="Rd02472d019d54ec3" /><Relationship Type="http://schemas.openxmlformats.org/officeDocument/2006/relationships/notesSlide" Target="/ppt/notesSlides/notesSlide7.xml" Id="R064af3fa7a4e4b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074bc13c4eac" /><Relationship Type="http://schemas.openxmlformats.org/officeDocument/2006/relationships/notesSlide" Target="/ppt/notesSlides/notesSlide8.xml" Id="R55e643cb5f7f41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181af8b8a4a0e" /><Relationship Type="http://schemas.openxmlformats.org/officeDocument/2006/relationships/notesSlide" Target="/ppt/notesSlides/notesSlide9.xml" Id="Ra4b12cfe828541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f386eb58443b5" /><Relationship Type="http://schemas.openxmlformats.org/officeDocument/2006/relationships/notesSlide" Target="/ppt/notesSlides/notesSlide10.xml" Id="R082a52beb2c94e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8f1e367c4620" /><Relationship Type="http://schemas.openxmlformats.org/officeDocument/2006/relationships/chart" Target="/ppt/slides/charts/chart4.xml" Id="R4eef136665d04039" /><Relationship Type="http://schemas.openxmlformats.org/officeDocument/2006/relationships/notesSlide" Target="/ppt/notesSlides/notesSlide11.xml" Id="R96249a0161b940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5e92c23564507" /><Relationship Type="http://schemas.openxmlformats.org/officeDocument/2006/relationships/notesSlide" Target="/ppt/notesSlides/notesSlide12.xml" Id="Rdd553394bda34b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700bc41574fe5" /><Relationship Type="http://schemas.openxmlformats.org/officeDocument/2006/relationships/notesSlide" Target="/ppt/notesSlides/notesSlide13.xml" Id="Ra291f4ab818c45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5a4897914cd6" /><Relationship Type="http://schemas.openxmlformats.org/officeDocument/2006/relationships/notesSlide" Target="/ppt/notesSlides/notesSlide14.xml" Id="R96774ab335624cfd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Maç sayısı</c:v>
          </c:tx>
          <c:dPt>
            <c:idx val="0"/>
            <c:spPr>
              <a:solidFill xmlns:a="http://schemas.openxmlformats.org/drawingml/2006/main">
                <a:srgbClr val="21C7D9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F8A4C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2"/>
              <c:pt idx="0">
                <c:v>Zafer</c:v>
              </c:pt>
              <c:pt idx="1">
                <c:v>Yenilgi</c:v>
              </c:pt>
            </c:strLit>
          </c:cat>
          <c:val>
            <c:numLit>
              <c:formatCode>General</c:formatCode>
              <c:ptCount val="2"/>
              <c:pt idx="0">
                <c:v>17</c:v>
              </c:pt>
              <c:pt idx="1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270"/>
        <c:holeSize val="64"/>
      </c:doughnutChart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0182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Kümülatif kazanma oranı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</c:formatCode>
              <c:ptCount val="30"/>
              <c:pt idx="0">
                <c:v>100</c:v>
              </c:pt>
              <c:pt idx="1">
                <c:v>50</c:v>
              </c:pt>
              <c:pt idx="2">
                <c:v>66.7</c:v>
              </c:pt>
              <c:pt idx="3">
                <c:v>50</c:v>
              </c:pt>
              <c:pt idx="4">
                <c:v>60</c:v>
              </c:pt>
              <c:pt idx="5">
                <c:v>66.7</c:v>
              </c:pt>
              <c:pt idx="6">
                <c:v>57.1</c:v>
              </c:pt>
              <c:pt idx="7">
                <c:v>50</c:v>
              </c:pt>
              <c:pt idx="8">
                <c:v>55.6</c:v>
              </c:pt>
              <c:pt idx="9">
                <c:v>50</c:v>
              </c:pt>
              <c:pt idx="10">
                <c:v>54.5</c:v>
              </c:pt>
              <c:pt idx="11">
                <c:v>50</c:v>
              </c:pt>
              <c:pt idx="12">
                <c:v>53.8</c:v>
              </c:pt>
              <c:pt idx="13">
                <c:v>57.1</c:v>
              </c:pt>
              <c:pt idx="14">
                <c:v>60</c:v>
              </c:pt>
              <c:pt idx="15">
                <c:v>56.3</c:v>
              </c:pt>
              <c:pt idx="16">
                <c:v>58.8</c:v>
              </c:pt>
              <c:pt idx="17">
                <c:v>55.6</c:v>
              </c:pt>
              <c:pt idx="18">
                <c:v>57.9</c:v>
              </c:pt>
              <c:pt idx="19">
                <c:v>55</c:v>
              </c:pt>
              <c:pt idx="20">
                <c:v>52.4</c:v>
              </c:pt>
              <c:pt idx="21">
                <c:v>54.5</c:v>
              </c:pt>
              <c:pt idx="22">
                <c:v>56.5</c:v>
              </c:pt>
              <c:pt idx="23">
                <c:v>58.3</c:v>
              </c:pt>
              <c:pt idx="24">
                <c:v>56</c:v>
              </c:pt>
              <c:pt idx="25">
                <c:v>57.7</c:v>
              </c:pt>
              <c:pt idx="26">
                <c:v>55.6</c:v>
              </c:pt>
              <c:pt idx="27">
                <c:v>53.6</c:v>
              </c:pt>
              <c:pt idx="28">
                <c:v>55.2</c:v>
              </c:pt>
              <c:pt idx="29">
                <c:v>56.7</c:v>
              </c:pt>
            </c:numLit>
          </c:val>
          <c:smooth val="0"/>
        </c:ser>
        <c:ser>
          <c:idx val="1"/>
          <c:order val="1"/>
          <c:tx>
            <c:v>%50 referansı</c:v>
          </c:tx>
          <c:spPr>
            <a:ln xmlns:a="http://schemas.openxmlformats.org/drawingml/2006/main" w="19050">
              <a:solidFill>
                <a:srgbClr val="FF8A4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</c:formatCode>
              <c:ptCount val="30"/>
              <c:pt idx="0">
                <c:v>50</c:v>
              </c:pt>
              <c:pt idx="1">
                <c:v>50</c:v>
              </c:pt>
              <c:pt idx="2">
                <c:v>50</c:v>
              </c:pt>
              <c:pt idx="3">
                <c:v>50</c:v>
              </c:pt>
              <c:pt idx="4">
                <c:v>50</c:v>
              </c:pt>
              <c:pt idx="5">
                <c:v>50</c:v>
              </c:pt>
              <c:pt idx="6">
                <c:v>50</c:v>
              </c:pt>
              <c:pt idx="7">
                <c:v>50</c:v>
              </c:pt>
              <c:pt idx="8">
                <c:v>50</c:v>
              </c:pt>
              <c:pt idx="9">
                <c:v>50</c:v>
              </c:pt>
              <c:pt idx="10">
                <c:v>50</c:v>
              </c:pt>
              <c:pt idx="11">
                <c:v>50</c:v>
              </c:pt>
              <c:pt idx="12">
                <c:v>50</c:v>
              </c:pt>
              <c:pt idx="13">
                <c:v>50</c:v>
              </c:pt>
              <c:pt idx="14">
                <c:v>50</c:v>
              </c:pt>
              <c:pt idx="15">
                <c:v>50</c:v>
              </c:pt>
              <c:pt idx="16">
                <c:v>50</c:v>
              </c:pt>
              <c:pt idx="17">
                <c:v>50</c:v>
              </c:pt>
              <c:pt idx="18">
                <c:v>50</c:v>
              </c:pt>
              <c:pt idx="19">
                <c:v>50</c:v>
              </c:pt>
              <c:pt idx="20">
                <c:v>50</c:v>
              </c:pt>
              <c:pt idx="21">
                <c:v>50</c:v>
              </c:pt>
              <c:pt idx="22">
                <c:v>50</c:v>
              </c:pt>
              <c:pt idx="23">
                <c:v>50</c:v>
              </c:pt>
              <c:pt idx="24">
                <c:v>50</c:v>
              </c:pt>
              <c:pt idx="25">
                <c:v>50</c:v>
              </c:pt>
              <c:pt idx="26">
                <c:v>50</c:v>
              </c:pt>
              <c:pt idx="27">
                <c:v>50</c:v>
              </c:pt>
              <c:pt idx="28">
                <c:v>50</c:v>
              </c:pt>
              <c:pt idx="29">
                <c:v>50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978"/>
                    </a:solidFill>
                  </a:rPr>
                  <a:t>Maç sayısı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9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D697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978"/>
                    </a:solidFill>
                  </a:rPr>
                  <a:t>Kazanma oranı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9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978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D697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Standart normal dağılım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9"/>
              <c:pt idx="0">
                <c:v>-3.50</c:v>
              </c:pt>
              <c:pt idx="1">
                <c:v>-3.25</c:v>
              </c:pt>
              <c:pt idx="2">
                <c:v>-3.00</c:v>
              </c:pt>
              <c:pt idx="3">
                <c:v>-2.75</c:v>
              </c:pt>
              <c:pt idx="4">
                <c:v>-2.50</c:v>
              </c:pt>
              <c:pt idx="5">
                <c:v>-2.25</c:v>
              </c:pt>
              <c:pt idx="6">
                <c:v>-2.00</c:v>
              </c:pt>
              <c:pt idx="7">
                <c:v>-1.75</c:v>
              </c:pt>
              <c:pt idx="8">
                <c:v>-1.50</c:v>
              </c:pt>
              <c:pt idx="9">
                <c:v>-1.25</c:v>
              </c:pt>
              <c:pt idx="10">
                <c:v>-1.00</c:v>
              </c:pt>
              <c:pt idx="11">
                <c:v>-0.75</c:v>
              </c:pt>
              <c:pt idx="12">
                <c:v>-0.50</c:v>
              </c:pt>
              <c:pt idx="13">
                <c:v>-0.25</c:v>
              </c:pt>
              <c:pt idx="14">
                <c:v>0.00</c:v>
              </c:pt>
              <c:pt idx="15">
                <c:v>0.25</c:v>
              </c:pt>
              <c:pt idx="16">
                <c:v>0.50</c:v>
              </c:pt>
              <c:pt idx="17">
                <c:v>0.75</c:v>
              </c:pt>
              <c:pt idx="18">
                <c:v>1.00</c:v>
              </c:pt>
              <c:pt idx="19">
                <c:v>1.25</c:v>
              </c:pt>
              <c:pt idx="20">
                <c:v>1.50</c:v>
              </c:pt>
              <c:pt idx="21">
                <c:v>1.75</c:v>
              </c:pt>
              <c:pt idx="22">
                <c:v>2.00</c:v>
              </c:pt>
              <c:pt idx="23">
                <c:v>2.25</c:v>
              </c:pt>
              <c:pt idx="24">
                <c:v>2.50</c:v>
              </c:pt>
              <c:pt idx="25">
                <c:v>2.75</c:v>
              </c:pt>
              <c:pt idx="26">
                <c:v>3.00</c:v>
              </c:pt>
              <c:pt idx="27">
                <c:v>3.25</c:v>
              </c:pt>
              <c:pt idx="28">
                <c:v>3.50</c:v>
              </c:pt>
            </c:numLit>
          </c:cat>
          <c:val>
            <c:numLit>
              <c:formatCode>General</c:formatCode>
              <c:ptCount val="29"/>
              <c:pt idx="0">
                <c:v>0.0009</c:v>
              </c:pt>
              <c:pt idx="1">
                <c:v>0.002</c:v>
              </c:pt>
              <c:pt idx="2">
                <c:v>0.0044</c:v>
              </c:pt>
              <c:pt idx="3">
                <c:v>0.0091</c:v>
              </c:pt>
              <c:pt idx="4">
                <c:v>0.0175</c:v>
              </c:pt>
              <c:pt idx="5">
                <c:v>0.0317</c:v>
              </c:pt>
              <c:pt idx="6">
                <c:v>0.054</c:v>
              </c:pt>
              <c:pt idx="7">
                <c:v>0.0863</c:v>
              </c:pt>
              <c:pt idx="8">
                <c:v>0.1295</c:v>
              </c:pt>
              <c:pt idx="9">
                <c:v>0.1826</c:v>
              </c:pt>
              <c:pt idx="10">
                <c:v>0.242</c:v>
              </c:pt>
              <c:pt idx="11">
                <c:v>0.3011</c:v>
              </c:pt>
              <c:pt idx="12">
                <c:v>0.3521</c:v>
              </c:pt>
              <c:pt idx="13">
                <c:v>0.3867</c:v>
              </c:pt>
              <c:pt idx="14">
                <c:v>0.3989</c:v>
              </c:pt>
              <c:pt idx="15">
                <c:v>0.3867</c:v>
              </c:pt>
              <c:pt idx="16">
                <c:v>0.3521</c:v>
              </c:pt>
              <c:pt idx="17">
                <c:v>0.3011</c:v>
              </c:pt>
              <c:pt idx="18">
                <c:v>0.242</c:v>
              </c:pt>
              <c:pt idx="19">
                <c:v>0.1826</c:v>
              </c:pt>
              <c:pt idx="20">
                <c:v>0.1295</c:v>
              </c:pt>
              <c:pt idx="21">
                <c:v>0.0863</c:v>
              </c:pt>
              <c:pt idx="22">
                <c:v>0.054</c:v>
              </c:pt>
              <c:pt idx="23">
                <c:v>0.0317</c:v>
              </c:pt>
              <c:pt idx="24">
                <c:v>0.0175</c:v>
              </c:pt>
              <c:pt idx="25">
                <c:v>0.0091</c:v>
              </c:pt>
              <c:pt idx="26">
                <c:v>0.0044</c:v>
              </c:pt>
              <c:pt idx="27">
                <c:v>0.002</c:v>
              </c:pt>
              <c:pt idx="28">
                <c:v>0.0009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42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%95 hata payı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01828"/>
                        </a:solidFill>
                      </a:rPr>
                      <a:t>±17,9 puan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01828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01828"/>
                        </a:solidFill>
                      </a:rPr>
                      <a:t>±9,8 puan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01828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01828"/>
                        </a:solidFill>
                      </a:rPr>
                      <a:t>±5,7 puan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01828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solidFill>
                          <a:srgbClr val="101828"/>
                        </a:solidFill>
                      </a:rPr>
                      <a:t>±3,1 puan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solidFill>
                        <a:srgbClr val="101828"/>
                      </a:solidFill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 b="1">
                    <a:solidFill>
                      <a:srgbClr val="101828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n=30</c:v>
              </c:pt>
              <c:pt idx="1">
                <c:v>n=100</c:v>
              </c:pt>
              <c:pt idx="2">
                <c:v>n=300</c:v>
              </c:pt>
              <c:pt idx="3">
                <c:v>n=1000</c:v>
              </c:pt>
            </c:strLit>
          </c:cat>
          <c:val>
            <c:numLit>
              <c:formatCode>General</c:formatCode>
              <c:ptCount val="4"/>
              <c:pt idx="0">
                <c:v>17.9</c:v>
              </c:pt>
              <c:pt idx="1">
                <c:v>9.8</c:v>
              </c:pt>
              <c:pt idx="2">
                <c:v>5.7</c:v>
              </c:pt>
              <c:pt idx="3">
                <c:v>3.1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82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97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978"/>
                    </a:solidFill>
                  </a:rPr>
                  <a:t>Hata payı (yüzde puan)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9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978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9EE83-A52C-4199-B82B-F77C796B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736AB-5224-456B-BDCF-FD731AC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HİPOTEZ TESTİ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8C507-1EBC-48CB-BF80-2C9AA76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101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Kazanma Oranı:</a:t>
            </a:r>
          </a:p>
          <a:p xmlns:a="http://schemas.openxmlformats.org/drawingml/2006/main">
            <a:pPr algn="l">
              <a:defRPr sz="57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Hipotez Testi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58EE3-C539-4EB6-B567-5D327A18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Overwatch 2 eşleştirme sistemi üzerine</a:t>
            </a:r>
          </a:p>
          <a:p xmlns:a="http://schemas.openxmlformats.org/drawingml/2006/main">
            <a:pPr algn="l">
              <a:defRPr sz="20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tek örnek oran testi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685800" y="495300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DEE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16468-4DEE-42FF-880D-66CBD26F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30 maç  •  17 zafer  •  13 yenilgi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D4A6F-2E21-4FE6-A2E8-3E6DEABD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Amaç: gözlenen %56,7 oranının %50’den anlamlı biçimde sapıp sapmadığını sınamak.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D4E24-98A9-48CE-A1D1-C57DC14B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"/>
            <a:ext cx="5886450" cy="61341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61bb8ed8e413e"/>
          <a:srcRect xmlns:a="http://schemas.openxmlformats.org/drawingml/2006/main" l="2019" t="0" r="2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361950"/>
            <a:ext cx="5886450" cy="6134100"/>
          </a:xfrm>
          <a:prstGeom xmlns:a="http://schemas.openxmlformats.org/drawingml/2006/main" prst="roundRect">
            <a:avLst>
              <a:gd name="adj" fmla="val 194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06386-9EE0-470E-A779-7C67ADF6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4663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377E5-9808-4BC1-8D5D-27ADF16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6AA22-97BB-4C2B-93FC-22A81A53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Soru: %56,7 sapma mı, şans mı?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61D45-4302-4090-8D4D-6E3258C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43F8-FD5C-4327-A94D-843D294E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Gözlenen 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D6D52-89A1-4E86-9194-6FF80476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2"/>
          </a:bodyPr>
          <a:lstStyle xmlns:a="http://schemas.openxmlformats.org/drawingml/2006/main"/>
          <a:p xmlns:a="http://schemas.openxmlformats.org/drawingml/2006/main">
            <a:pPr algn="l">
              <a:defRPr sz="7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56,7%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AE4E7-7A2D-4AD3-8590-799EE4B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+6,7 yüzde puan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90239-C540-41B3-B47B-8B2F552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4238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Tek başına bu fark, sistematik bir sapma olduğunu göstermez. Örneklem değişkenliğini hesaba katmak gerekir.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F7DC3-9372-441C-B9CE-DD35C669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6191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95DBE-5BA2-41A5-8BE7-9C591F1B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Kazanma olasılığı ölçeği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810250" y="35242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D6DEE8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382000" y="30289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182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D8CCE-1460-4145-9A14-BD9729E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365" y="3429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F8C41-A3B5-46A4-9FFB-92D69C6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p₀ = 50%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0B903-AC4F-4B63-91A7-0976F88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514" y="3857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p̂ = 56,7%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FD77E-E003-4D33-A473-57306F6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E9C89-507B-4EF8-A1DE-7A94306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82F0B-041C-4D42-9E36-CA1BE7C3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Hipotez testi bu iki işaret arasındaki farkın örnekleme hatasıyla açıklanıp açıklanamayacağını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20734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B370D-3681-4859-BEFF-B7764D0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5F210-A2C1-4AB3-B778-893D24E5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Test tasarımı üç kararla kuruluyor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723AE-4F46-4C7C-B006-F1A157E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57250" y="3190875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521C2-A99E-4FF5-8485-250D5DB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HİPOTEZLER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9BB82-572E-43E4-9C9F-D99729C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8C496-DF87-452B-BB85-DC7405C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H₀: p = 0,50</a:t>
            </a:r>
          </a:p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H₁: p ≠ 0,50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6E791-176F-485A-8ABE-242EFB4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Eşleşme dengeliyse uzun vadeli kazanma olasılığının %50 olduğu varsayılır.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64D4A-FCD9-420E-819E-1A0B2999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ÖNEM DÜZEYİ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C5AC7-4154-4978-AACF-04E19544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F6201-6EC5-42E5-8392-051D035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α = 0,05</a:t>
            </a:r>
          </a:p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%95 güven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BCCDA-5582-4786-8737-32E97B3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Yanlış alarm riski %5 ile sınırlandırılır; kritik z değerleri ±1,96’dır.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38E81-780A-4018-99E9-7141471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TEST YÖNÜ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AD291-C524-4ABB-A990-01A1C97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99A98-BBC1-4280-AC85-40D70EF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İki yönlü</a:t>
            </a:r>
          </a:p>
          <a:p xmlns:a="http://schemas.openxmlformats.org/drawingml/2006/main">
            <a:pPr algn="l">
              <a:defRPr sz="22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oran z-testi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E3777-9EEF-4A63-A727-C0D3089E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300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Hem daha düşük hem daha yüksek oranlar alternatif hipoteze dahildir.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06ABB-616C-422E-B848-B3C8FBC8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D6978"/>
                </a:solidFill>
                <a:latin typeface="Arial"/>
                <a:ea typeface="Arial"/>
                <a:cs typeface="Arial"/>
              </a:rPr>
              <a:t>Normal yaklaşım koşulu: np₀ = 15 ve n(1−p₀) = 15; her ikisi de 10’dan büyüktür.</a:t>
            </a:r>
          </a:p>
        </p:txBody>
      </p:sp>
    </p:spTree>
    <p:extLst>
      <p:ext uri="{BB962C8B-B14F-4D97-AF65-F5344CB8AC3E}">
        <p14:creationId xmlns:p14="http://schemas.microsoft.com/office/powerpoint/2010/main" val="1118105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9F69B9-B100-4A82-9DE7-4469DA80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EB9BB-5498-45C1-A241-A2085B06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Veri: 30 maçta 17 zafer, 13 yenilgi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6E6EF-2991-4294-98D0-74538BD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80" name="Chart"/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4095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1a2fa7500947d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7D6B6-3B40-4D3B-8EEB-5471B4B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051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83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C138C-EA84-443E-AD30-77BFFF7C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maç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38608-C0D4-46F2-A449-5F8F4BE5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95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Örneklemin görsel izi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90E5E-0C1B-4193-B9F2-49D5218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Her kutu bir maçı temsil eder; yeşil zafer, kırmızı yenilgidir.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EB84B-B680-45EE-9968-B52C0990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7047F-C352-49F6-9861-D914149E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34E40-88CD-468B-B716-EFB8176A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ACAD-A551-41B9-95E9-CE019FF8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52038-B0F7-48A7-99A6-CA357FA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B738-9953-46C2-AD51-9260B0E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3A966-A714-45C9-9529-6A1BAD63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4B7F6-EC5F-427C-9D7A-D6FC885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5D501-95F3-4E5B-B207-9C48F34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69E61-FFAE-42E0-8646-D1FAB1D4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54659-CF63-4A5C-87CB-91A1AD2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8752A-328B-4F88-AAA4-5EEA889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C4AF6-1E50-4958-84B8-2F328DB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75860-D206-4C46-9293-4633B49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2F791-0D6D-4874-9F2D-7E20F50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53A79-1884-4839-8A89-E38CC8C9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19C05-DEF0-4CB7-835D-4228D35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7FF88-BBF8-4CB3-9E54-AEACF5B3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53135-D2B1-410E-A42A-B743522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92A40-4D31-4088-9549-4A1AF956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47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FFCB8-0EC3-4D44-9802-4DE502A4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20B83B-CDE9-46BF-96B4-997FDF89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2D38B-A55B-427B-BE1E-DCD5AA70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F96ED-E88D-488C-AB74-F0A764D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8B8D7-D954-4245-A0E6-86A644F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7BD667-ECFA-43DC-B48E-A910F36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78B83-A1C7-4EA3-AEF5-F9F8C57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049A19-5054-4722-A61C-A0DD3C10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F2BB47-4B77-4A3A-BC6B-2B0DCC9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63042E-D9D8-4A43-92E6-8D0AB07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169E16-475E-4F59-A718-1DEF05D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5E6050-BA87-4391-9F59-32C50BE7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166C7A-F1C6-429E-A185-7A9C3E11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9AE317-8DFC-49E0-B2C7-21F3B989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933E7C-C279-4E29-96A9-BF31E23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F0CF36-D381-4252-B591-BE832E2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B367C3-6612-458B-BF03-A3AD8B2D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302E63-F1C4-4628-91E7-EE75D63B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A54BFA-87E0-40C9-BD26-5BEA6A81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71825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FBE9BD-91BE-42A4-B054-0681158E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AE5F49-33A1-4E33-A485-68D494A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693FC3-931B-4C90-B776-72B9BD8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B5AC92-EDDA-4014-A632-D539FC7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3F1B7E-5971-44A1-A9E2-D314277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15910E-750B-4194-A13D-4168E896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475F48-63B4-4DC7-825D-7C7633C8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1AE0F5-4681-4604-8403-DF55DC13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A29CF8-9CB7-4DB0-8EEF-77CD303A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7098C9-9DCC-44E3-A126-F5B4CAA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124C22-76E5-444B-B5CB-C4F214FF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5E6748-51A0-4235-B3AA-4836815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5488FC-98E0-44FE-9218-630E2C6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45E63B-E810-4BCC-B5DC-77BD9E49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31ED64-AB5F-46D1-B58E-D2EA0071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D02378-8D9A-4687-AE84-F91BE74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7B0A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8F8096-0152-4F95-8EB8-3C690FF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2F6AC4-AF01-415F-A6DF-2D0EB4D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1EAABB-43B9-4082-B9F7-F6E22C4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29A5D1-E18E-4CF3-88BF-7933218D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62350"/>
            <a:ext cx="4572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9AE6B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0FB9B0-C575-4C0E-87DA-211DE993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290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9B7982-F52B-45B8-BF55-1D0B9E9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053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2B76A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2B7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C0AFC0-839A-4BF7-B009-B25D26B0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zafer</a:t>
            </a:r>
          </a:p>
          <a:p xmlns:a="http://schemas.openxmlformats.org/drawingml/2006/main"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%56,7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43474C-49CE-456D-A904-4D4CD5D9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0443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0443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6FC81D-8BB1-46A2-8D67-6A40C10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10075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yenilgi</a:t>
            </a:r>
          </a:p>
          <a:p xmlns:a="http://schemas.openxmlformats.org/drawingml/2006/main"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%43,3</a:t>
            </a:r>
          </a:p>
        </p:txBody>
      </p:sp>
      <p:cxnSp>
        <p:nvCxnSpPr>
          <p:cNvPr id="149" name=""/>
          <p:cNvCxnSpPr/>
          <p:nvPr/>
        </p:nvCxnSpPr>
        <p:spPr>
          <a:xfrm xmlns:a="http://schemas.openxmlformats.org/drawingml/2006/main">
            <a:off x="5286375" y="53340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15B59D-0BF2-4F7C-91E1-89A11AF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245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Test yalnızca sonuçları (zafer/yenilgi) kullanır; harita, rank ve K/D/A değişkenleri bu modelin dışında kalır.</a:t>
            </a:r>
          </a:p>
        </p:txBody>
      </p:sp>
    </p:spTree>
    <p:extLst>
      <p:ext uri="{BB962C8B-B14F-4D97-AF65-F5344CB8AC3E}">
        <p14:creationId xmlns:p14="http://schemas.microsoft.com/office/powerpoint/2010/main" val="1775545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342A0-9A62-4602-A6FF-8956D98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7B65D-4575-4A8C-8FEC-CD5EE71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Oran maçtan maça dalgalanır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9C4BB-C407-4428-8C83-58A18170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d729ef7aae47f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0D961-56DC-40D5-8B55-F0A00067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621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+6,7 puan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C82DD-8B08-4F98-A06D-8EF7F8E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Final fark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8572500" y="3086100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6EF0F-639F-4AE5-877E-FBDE2D9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İlk maçlarda oran sert hareket eder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8D7BB-4405-4A7E-B33F-CDBB167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Örneklem küçükken tek bir sonuç toplam oranı güçlü biçimde değiştirir.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572500" y="49053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E7BFF-C796-4CB9-9B92-35A6D397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Final: %56,7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07D90-926D-4549-8D41-77A948C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Şimdi bu farkı standart hataya göre ölçekliyoruz.</a:t>
            </a:r>
          </a:p>
        </p:txBody>
      </p:sp>
    </p:spTree>
    <p:extLst>
      <p:ext uri="{BB962C8B-B14F-4D97-AF65-F5344CB8AC3E}">
        <p14:creationId xmlns:p14="http://schemas.microsoft.com/office/powerpoint/2010/main" val="679614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C2DAD-E619-40B5-9F04-A8049E8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A5805-5A68-4894-941C-DCAD1712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Z değeri üç adımda hesaplanır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E900C-442A-4D8E-9E1A-F94506C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B08BB-FD42-4E4D-94B5-7496E5A1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98CC-752A-4F3C-8218-5FEC4DBA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A8E13-4448-4163-A663-641B66C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448D1-4AC0-4B7B-B10D-F00D415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Gözlenen oran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7DD9E-04D0-4AD4-A412-19352368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66900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defRPr>
            </a:pPr>
            <a:r>
              <a: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rPr>
              <a:t>p̂ = k / n = 17 / 30 = 0,5667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FCA60-018E-4373-A7BE-D4A05E6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955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Örneklemdeki kazanma oranı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F7EC4-F5F3-48E2-8304-9FC7F1E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1049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EFF5A-D8EA-4D77-ABC5-A530199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9F370-2546-4BCB-8A79-0E8410C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H₀ altındaki standart hata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AF493-9EAF-4043-BF5D-ED36192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defRPr>
            </a:pPr>
            <a:r>
              <a: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rPr>
              <a:t>σₚ = √[p₀(1−p₀)/n] = √(0,25/30) = 0,0913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82C47-B9F2-4584-BA90-B44DD61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%50 varsayımı altında beklenen örnekleme oynaklığı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0F780-8B65-4BCD-B0D8-76AB871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6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C2F22-FF46-418D-84CA-3067295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E8200-14E1-48FB-8ED7-0FAC1770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Standartlaştırılmış fark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59937-8159-4C3A-BE23-B7599736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defRPr>
            </a:pPr>
            <a:r>
              <a:rPr sz="1725" b="1" i="0">
                <a:solidFill>
                  <a:srgbClr val="101828"/>
                </a:solidFill>
                <a:latin typeface="Aptos Mono"/>
                <a:ea typeface="Aptos Mono"/>
                <a:cs typeface="Aptos Mono"/>
              </a:rPr>
              <a:t>z = (p̂−p₀) / σₚ = (0,5667−0,50) / 0,0913 = 0,73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1C035-FCDD-4E1D-B5AE-AB046E2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292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Gözlenen fark, standart hatanın yalnızca 0,73 katı</a:t>
            </a:r>
          </a:p>
        </p:txBody>
      </p:sp>
    </p:spTree>
    <p:extLst>
      <p:ext uri="{BB962C8B-B14F-4D97-AF65-F5344CB8AC3E}">
        <p14:creationId xmlns:p14="http://schemas.microsoft.com/office/powerpoint/2010/main" val="20820724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AC754-A4C5-436D-9A2D-0DA0588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0C295-53B3-4DBF-8601-55C8BD5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z = 0,73, kritik sınırların arasında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637E3-809B-482A-8DA1-4E4893D4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83704-F9BA-4D39-9599-C7BC91D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6003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881C1-FD22-4FE4-9854-61BD9154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71650"/>
            <a:ext cx="266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1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2472d019d54ec3"/>
          </a:graphicData>
        </a:graphic>
      </p:graphicFrame>
      <p:cxnSp>
        <p:nvCxnSpPr>
          <p:cNvPr id="25" name=""/>
          <p:cNvCxnSpPr/>
          <p:nvPr/>
        </p:nvCxnSpPr>
        <p:spPr>
          <a:xfrm xmlns:a="http://schemas.openxmlformats.org/drawingml/2006/main">
            <a:off x="3284220" y="2286000"/>
            <a:ext cx="0" cy="2619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4438"/>
            </a:solidFill>
            <a:prstDash val="dash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8831580" y="2286000"/>
            <a:ext cx="0" cy="2619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4438"/>
            </a:solidFill>
            <a:prstDash val="dash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7091374" y="2743200"/>
            <a:ext cx="0" cy="21621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8A4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68E12-F5DE-45ED-9ED8-F429C6C1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74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68DD-B71D-4B34-9308-B63FEBF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70" y="5286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044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4438"/>
                </a:solidFill>
                <a:latin typeface="Arial"/>
                <a:ea typeface="Arial"/>
                <a:cs typeface="Arial"/>
              </a:rPr>
              <a:t>−1,96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06C8D-55D8-4F52-B170-33BABDBE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330" y="5286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044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4438"/>
                </a:solidFill>
                <a:latin typeface="Arial"/>
                <a:ea typeface="Arial"/>
                <a:cs typeface="Arial"/>
              </a:rPr>
              <a:t>+1,96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0C6CA-AE58-4C41-8ED8-9221BA10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74" y="2019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8A4C"/>
                </a:solidFill>
                <a:latin typeface="Arial"/>
                <a:ea typeface="Arial"/>
                <a:cs typeface="Arial"/>
              </a:rPr>
              <a:t>z = 0,73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A2AD4-6381-4441-A651-AEC9527E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044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4438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AE568-7CC4-427A-A20E-CAD64DF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H₀’I REDDETMEME BÖLGESİ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7010D-9776-4F88-B69C-32EF4622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38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044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4438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583295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A5016-9688-40A0-B2C0-AAC3F0A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1C7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1C7D9"/>
                </a:solidFill>
                <a:latin typeface="Arial"/>
                <a:ea typeface="Arial"/>
                <a:cs typeface="Arial"/>
              </a:rPr>
              <a:t>İSTATİSTİKSEL KARAR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FF91C-89A1-40E7-8F5B-AB2B033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H₀ reddedilemez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76BCD-CE2E-4AE3-9D36-6E5D308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74"/>
          </a:bodyPr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21C7D9"/>
                </a:solidFill>
                <a:latin typeface="Arial"/>
                <a:ea typeface="Arial"/>
                <a:cs typeface="Arial"/>
              </a:defRPr>
            </a:pPr>
            <a:r>
              <a:rPr sz="7800" b="1" i="0">
                <a:solidFill>
                  <a:srgbClr val="21C7D9"/>
                </a:solidFill>
                <a:latin typeface="Arial"/>
                <a:ea typeface="Arial"/>
                <a:cs typeface="Arial"/>
              </a:rPr>
              <a:t>p = 0,465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71698-669F-4539-B069-C342710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0,465  &gt;  0,05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10CC3-2B8A-48EC-815A-0CBAC79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CAD5E5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CAD5E5"/>
                </a:solidFill>
                <a:latin typeface="Arial"/>
                <a:ea typeface="Arial"/>
                <a:cs typeface="Arial"/>
              </a:rPr>
              <a:t>Gözlenen fark, %5 önem düzeyinde istatistiksel olarak anlamlı değildir.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858000" y="1047750"/>
            <a:ext cx="0" cy="476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66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54136-7C29-4D88-A530-68FE712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52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Kritik değer yaklaşımı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A8C9D-7EA3-47BC-AEDC-71B0C88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8A4C"/>
                </a:solidFill>
                <a:latin typeface="Arial"/>
                <a:ea typeface="Arial"/>
                <a:cs typeface="Arial"/>
              </a:rPr>
              <a:t>|0,73| &lt; 1,96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10E44-BF77-44AD-ACD0-44644F2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8C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8CC"/>
                </a:solidFill>
                <a:latin typeface="Arial"/>
                <a:ea typeface="Arial"/>
                <a:cs typeface="Arial"/>
              </a:rPr>
              <a:t>Aynı karar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7334250" y="3086100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66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57883-B7F9-43E1-9A2B-68CA41E3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Kesin binom testi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8FC8-C41D-4C99-B42A-85B8CC0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1C7D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1C7D9"/>
                </a:solidFill>
                <a:latin typeface="Arial"/>
                <a:ea typeface="Arial"/>
                <a:cs typeface="Arial"/>
              </a:rPr>
              <a:t>p ≈ 0,585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550D3-9565-43BD-8651-89B41926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8C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8CC"/>
                </a:solidFill>
                <a:latin typeface="Arial"/>
                <a:ea typeface="Arial"/>
                <a:cs typeface="Arial"/>
              </a:rPr>
              <a:t>Karar değişmiyor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5A6F9-8208-45A4-A5CB-E7FA761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91A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1A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9210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25E51-AA6A-4896-A2B3-6A077BD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2E4D6-B336-45BC-82EB-6E439E5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%95 güven aralığı %50’yi içeriyor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F86AB-F3D4-4DE4-A263-5252B2C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379FB-922D-4AF6-8C0E-9EF481CA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38,9%  —  74,4%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30F4A-21A9-475D-90B9-388F416F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Kazanma oranı için yaklaşık %95 güven aralığı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047750" y="40957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D6DEE8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2834804" y="4095750"/>
            <a:ext cx="709389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44A68-C561-43BF-A9D0-0FF6BD67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029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61725-AEA9-4D04-806F-90749FCC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921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048250" y="333375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8A4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B75B-E8BB-468F-97CE-929C5E0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4E84C-9BF0-43FE-BEF7-EE1AACB8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33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8A4C"/>
                </a:solidFill>
                <a:latin typeface="Arial"/>
                <a:ea typeface="Arial"/>
                <a:cs typeface="Arial"/>
              </a:rPr>
              <a:t>%50 varsayımı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07851-9CCD-46E1-840E-AB79BACE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19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%56,7 gözlenen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70F4A-7BB8-4371-A492-E3AD96D3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929" y="4781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38,9%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7DDE3-E3FB-484B-A2D1-6C9F256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821" y="4781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74,4%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9F137-EEE4-489D-9D36-0DE9F98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%30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A718E-B99D-485B-ADEF-AFF9F08E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%80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4C3A0-BC8A-4763-9CCA-3BC1C59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66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Aralık geniştir; 30 maç, gerçek oranı hassas biçimde belirlemek için sınırlı bir örneklemdir.</a:t>
            </a:r>
          </a:p>
        </p:txBody>
      </p:sp>
    </p:spTree>
    <p:extLst>
      <p:ext uri="{BB962C8B-B14F-4D97-AF65-F5344CB8AC3E}">
        <p14:creationId xmlns:p14="http://schemas.microsoft.com/office/powerpoint/2010/main" val="1594101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30CB5-C79B-4180-A8A1-D779C885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9970B-4C35-499E-9A9B-A0DA92A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 ne söyler, ne söylemez?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6A473-6076-4097-B199-CD238D9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FB422-DC87-4D0A-B1E2-16CCF7D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D202-3309-4E30-B835-2EA7D7F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9525">
            <a:solidFill>
              <a:srgbClr val="A6E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1C053-4B53-4466-8968-0015C58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5143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6BC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024B9-038A-4421-BD2C-74715641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67647"/>
                </a:solidFill>
                <a:latin typeface="Arial"/>
                <a:ea typeface="Arial"/>
                <a:cs typeface="Arial"/>
              </a:rPr>
              <a:t>SÖYLER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8829E-B135-48D1-BD98-B27B717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25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 30 maçlık örneklem, %50 varsayımıyla çelişmiyor.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F2A80-27EE-4B24-B6E7-E659A2BE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333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Gözlenen fark örnekleme dalgalanmasıyla açıklanabilir.</a:t>
            </a:r>
          </a:p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H₀’ı reddetmek için yeterli kanıt yoktur.</a:t>
            </a:r>
          </a:p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Daha büyük örneklem belirsizliği azaltır.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4285A-7A65-44BC-9338-9A9F8D9D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SÖYLEMEZ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A970-635C-46D8-88F1-1AC30B57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46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Eşleştirme sisteminin ‘adil olduğu’ kanıtlanmış değildir.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CA9E7-BEFD-498A-B1F5-F9C4532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333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55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H₀’ı reddedememek, H₀’ı doğrulamak değildir.</a:t>
            </a:r>
          </a:p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Bağımsızlık ve temsil gücü varsayımları ayrıca incelenmelidir.</a:t>
            </a:r>
          </a:p>
          <a:p xmlns:a="http://schemas.openxmlformats.org/drawingml/2006/main">
            <a:pPr algn="l">
              <a:defRPr sz="157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• Kaynak rapordaki 233 maç / %49,78 bilgisi ham verisiz doğrulanamaz.</a:t>
            </a:r>
          </a:p>
        </p:txBody>
      </p:sp>
    </p:spTree>
    <p:extLst>
      <p:ext uri="{BB962C8B-B14F-4D97-AF65-F5344CB8AC3E}">
        <p14:creationId xmlns:p14="http://schemas.microsoft.com/office/powerpoint/2010/main" val="1744416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3B819-2EF0-40AD-ADB4-0E6DB69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TEK ÖRNEK ORAN TESTİ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04276-17E0-4667-9EDE-B816260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Daha çok maç, daha dar hata payı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7D45-E4CD-4108-9331-7B42865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f136665d0403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413C5-F05F-4A04-8C60-18E990AA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Bir sonraki analiz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70E91-2340-4124-A113-4284A227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30672-08AB-443F-A8D6-BB2F89F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Örneklemi büyüt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57A0E-24DC-4BF1-887B-3F780C4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En az birkaç yüz maçla güven aralığını daralt.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8096250" y="34290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B3E7F-717E-437C-905E-C700B81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33664-773F-4722-ADCB-76600BA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Katmanlara ayır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C638E-00F9-45D5-92CD-B3F37FF8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Rank, harita, rol ve oturum türüne göre karşılaştır.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096250" y="4619625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BB138-009A-47F6-9E69-37EB82D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7377D-72B8-4061-A4B6-CCEB953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Bağımsızlığı izle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5A749-54BC-494B-AF64-F8E1F60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Ardışık maçlar ve takım kompozisyonu etkisini kontrol et.</a:t>
            </a:r>
          </a:p>
        </p:txBody>
      </p:sp>
    </p:spTree>
    <p:extLst>
      <p:ext uri="{BB962C8B-B14F-4D97-AF65-F5344CB8AC3E}">
        <p14:creationId xmlns:p14="http://schemas.microsoft.com/office/powerpoint/2010/main" val="1140793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8080A-6EF7-465B-88AB-7FF8B96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A00C3-6215-4BE9-9512-58B2C4F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858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Fark gözlendi;</a:t>
            </a:r>
          </a:p>
          <a:p xmlns:a="http://schemas.openxmlformats.org/drawingml/2006/main">
            <a:pPr algn="l">
              <a:defRPr sz="5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anlamlı sapma saptanmadı.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F0A9B-10C6-4F44-8D75-B642BBA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D69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D6978"/>
                </a:solidFill>
                <a:latin typeface="Arial"/>
                <a:ea typeface="Arial"/>
                <a:cs typeface="Arial"/>
              </a:rPr>
              <a:t>30 maçta %56,7 kazanma oranı, %50 varsayımından istatistiksel olarak anlamlı biçimde farklı değildir.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CE485-AA65-4679-9B58-3D5F17B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52950"/>
            <a:ext cx="121920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solidFill>
              <a:srgbClr val="0B15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7359F-2ABD-41BC-9BAA-EB0B64A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8A4C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8A4C"/>
                </a:solidFill>
                <a:latin typeface="Arial"/>
                <a:ea typeface="Arial"/>
                <a:cs typeface="Arial"/>
              </a:rPr>
              <a:t>+6,7 puan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64817-48CC-49E0-A567-0AF0673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AB8C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AB8CC"/>
                </a:solidFill>
                <a:latin typeface="Arial"/>
                <a:ea typeface="Arial"/>
                <a:cs typeface="Arial"/>
              </a:rPr>
              <a:t>gözlenen fark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ADDC3-5E50-4E48-908B-65D41EBC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00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1C7D9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21C7D9"/>
                </a:solidFill>
                <a:latin typeface="Arial"/>
                <a:ea typeface="Arial"/>
                <a:cs typeface="Arial"/>
              </a:rPr>
              <a:t>z = 0,73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595E-7F9F-4F8B-8E6B-4FA93FD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15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AB8C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AB8CC"/>
                </a:solidFill>
                <a:latin typeface="Arial"/>
                <a:ea typeface="Arial"/>
                <a:cs typeface="Arial"/>
              </a:rPr>
              <a:t>kritik aralık içinde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C2E18-E525-4B26-8D5C-FC3A272F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00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 = 0,465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64C8F-69FE-41D5-96D6-38ED77AA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15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AB8C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AB8CC"/>
                </a:solidFill>
                <a:latin typeface="Arial"/>
                <a:ea typeface="Arial"/>
                <a:cs typeface="Arial"/>
              </a:rPr>
              <a:t>H₀ reddedilemez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F5997-4E01-4F3E-AEBF-7CA44EA4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6DFE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6DFEC"/>
                </a:solidFill>
                <a:latin typeface="Arial"/>
                <a:ea typeface="Arial"/>
                <a:cs typeface="Arial"/>
              </a:rPr>
              <a:t>Doğru yorum: veri %50 ile uyumludur; sistemin adil olduğu kanıtlanmış değildir.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E785A-0FE8-4D70-822A-BFDBAA2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91A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1A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54897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BFFEA-E0D3-4DE8-96BD-FFE6CA3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EK — 30 MAÇLIK VERİ MATRİSİ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984EC-FAF3-4E9C-A329-FA795EF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Maç kayıtları 1–15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2959B-B8AC-4A7C-A91C-A935FC47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762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71500"/>
                <a:gridCol w="2571750"/>
                <a:gridCol w="1714500"/>
                <a:gridCol w="1714500"/>
                <a:gridCol w="1428750"/>
                <a:gridCol w="857250"/>
                <a:gridCol w="2343150"/>
              </a:tblGrid>
              <a:tr h="29765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Harita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Takım Ort.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Rakip Ort.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Sonuç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Skor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K/D/A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King's Row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18/4/12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Route 66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12/8/7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Busan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15/3/9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Colosseo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10/7/6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Shambali Monastery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22/5/14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Blizzard World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16/6/10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Esperanca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14/9/8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Circuit Royal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9/10/5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Ilios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19/4/11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Paraiso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11/8/6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Dorado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20/6/13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Midtown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8/9/4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Nepal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17/5/10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Oasis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15/3/12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Rialto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21/7/15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634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ED2B4-7970-456D-AD6F-68F0D54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EK — 30 MAÇLIK VERİ MATRİSİ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6DB6-1DFF-4CFD-8493-D4F30A52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Maç kayıtları 16–30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EE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34111-8350-43C2-B252-D6471E4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762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71500"/>
                <a:gridCol w="2571750"/>
                <a:gridCol w="1714500"/>
                <a:gridCol w="1714500"/>
                <a:gridCol w="1428750"/>
                <a:gridCol w="857250"/>
                <a:gridCol w="2343150"/>
              </a:tblGrid>
              <a:tr h="29765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Harita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Takım Ort.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Rakip Ort.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Sonuç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Skor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K/D/A</a:t>
                      </a:r>
                    </a:p>
                  </a:txBody>
                  <a:tcPr marL="57150" marR="57150" marT="38100" marB="38100" anchor="ctr">
                    <a:solidFill>
                      <a:srgbClr val="0B1530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Junkertown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13/8/7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Lijiang Tower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18/5/11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Watchpoint: Gibraltar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10/9/6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Suravasa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16/4/9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New Queen Street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12/7/8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Shambali Monastery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11/9/5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King's Row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22/4/14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Route 66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17/3/10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Busan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19/5/12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Colosseo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5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Diamond 4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0-1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9/8/6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Ilios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2-1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16/4/10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Paraiso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1-2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10/7/7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Dorado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42318"/>
                          </a:solidFill>
                          <a:latin typeface="Arial"/>
                          <a:ea typeface="Arial"/>
                          <a:cs typeface="Arial"/>
                        </a:rPr>
                        <a:t>Kaybetti</a:t>
                      </a:r>
                    </a:p>
                  </a:txBody>
                  <a:tcPr marL="57150" marR="57150" marT="38100" marB="38100" anchor="ctr"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0-3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8/11/4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Nepal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3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2-0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15/3/9</a:t>
                      </a:r>
                    </a:p>
                  </a:txBody>
                  <a:tcPr marL="57150" marR="57150" marT="38100" marB="38100" anchor="ctr">
                    <a:solidFill>
                      <a:srgbClr val="F7F9FC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Oasis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Platinum 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67647"/>
                          </a:solidFill>
                          <a:latin typeface="Arial"/>
                          <a:ea typeface="Arial"/>
                          <a:cs typeface="Arial"/>
                        </a:rPr>
                        <a:t>Zafer</a:t>
                      </a:r>
                    </a:p>
                  </a:txBody>
                  <a:tcPr marL="57150" marR="57150" marT="38100" marB="38100" anchor="ctr">
                    <a:solidFill>
                      <a:srgbClr val="EAF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3-2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1828"/>
                          </a:solidFill>
                          <a:latin typeface="Arial"/>
                          <a:ea typeface="Arial"/>
                          <a:cs typeface="Arial"/>
                        </a:rPr>
                        <a:t>20/6/13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7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2026-08-26T16:27:22.4300000Z</dcterms:created>
  <dcterms:modified xsi:type="dcterms:W3CDTF">2026-08-26T16:27:22.4300000Z</dcterms:modified>
</coreProperties>
</file>